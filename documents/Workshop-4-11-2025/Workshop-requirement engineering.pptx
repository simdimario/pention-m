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Lazydog" panose="020B0604020202020204" charset="0"/>
      <p:regular r:id="rId17"/>
    </p:embeddedFon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8B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26780" y="3327400"/>
            <a:ext cx="7481574" cy="358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 b="1">
                <a:solidFill>
                  <a:srgbClr val="FDF8F5"/>
                </a:solidFill>
                <a:latin typeface="Poppins Bold"/>
                <a:ea typeface="Poppins Bold"/>
                <a:cs typeface="Poppins Bold"/>
                <a:sym typeface="Poppins Bold"/>
              </a:rPr>
              <a:t>Requirements Elicitation Workshop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4905091" y="459901"/>
            <a:ext cx="4708417" cy="3484229"/>
          </a:xfrm>
          <a:custGeom>
            <a:avLst/>
            <a:gdLst/>
            <a:ahLst/>
            <a:cxnLst/>
            <a:rect l="l" t="t" r="r" b="b"/>
            <a:pathLst>
              <a:path w="4708417" h="3484229">
                <a:moveTo>
                  <a:pt x="4708418" y="0"/>
                </a:moveTo>
                <a:lnTo>
                  <a:pt x="0" y="0"/>
                </a:lnTo>
                <a:lnTo>
                  <a:pt x="0" y="3484229"/>
                </a:lnTo>
                <a:lnTo>
                  <a:pt x="4708418" y="3484229"/>
                </a:lnTo>
                <a:lnTo>
                  <a:pt x="4708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-806297">
            <a:off x="2638433" y="-1863194"/>
            <a:ext cx="2776092" cy="4270910"/>
          </a:xfrm>
          <a:custGeom>
            <a:avLst/>
            <a:gdLst/>
            <a:ahLst/>
            <a:cxnLst/>
            <a:rect l="l" t="t" r="r" b="b"/>
            <a:pathLst>
              <a:path w="2776092" h="4270910">
                <a:moveTo>
                  <a:pt x="0" y="0"/>
                </a:moveTo>
                <a:lnTo>
                  <a:pt x="2776091" y="0"/>
                </a:lnTo>
                <a:lnTo>
                  <a:pt x="2776091" y="4270910"/>
                </a:lnTo>
                <a:lnTo>
                  <a:pt x="0" y="4270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2745441" y="3113932"/>
            <a:ext cx="4280594" cy="4227087"/>
          </a:xfrm>
          <a:custGeom>
            <a:avLst/>
            <a:gdLst/>
            <a:ahLst/>
            <a:cxnLst/>
            <a:rect l="l" t="t" r="r" b="b"/>
            <a:pathLst>
              <a:path w="4280594" h="4227087">
                <a:moveTo>
                  <a:pt x="0" y="0"/>
                </a:moveTo>
                <a:lnTo>
                  <a:pt x="4280594" y="0"/>
                </a:lnTo>
                <a:lnTo>
                  <a:pt x="4280594" y="4227087"/>
                </a:lnTo>
                <a:lnTo>
                  <a:pt x="0" y="42270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950923">
            <a:off x="-576914" y="375369"/>
            <a:ext cx="2854374" cy="4548803"/>
          </a:xfrm>
          <a:custGeom>
            <a:avLst/>
            <a:gdLst/>
            <a:ahLst/>
            <a:cxnLst/>
            <a:rect l="l" t="t" r="r" b="b"/>
            <a:pathLst>
              <a:path w="2854374" h="4548803">
                <a:moveTo>
                  <a:pt x="0" y="0"/>
                </a:moveTo>
                <a:lnTo>
                  <a:pt x="2854374" y="0"/>
                </a:lnTo>
                <a:lnTo>
                  <a:pt x="2854374" y="4548803"/>
                </a:lnTo>
                <a:lnTo>
                  <a:pt x="0" y="4548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 rot="568102">
            <a:off x="-1978190" y="5790450"/>
            <a:ext cx="3956380" cy="3966295"/>
          </a:xfrm>
          <a:custGeom>
            <a:avLst/>
            <a:gdLst/>
            <a:ahLst/>
            <a:cxnLst/>
            <a:rect l="l" t="t" r="r" b="b"/>
            <a:pathLst>
              <a:path w="3956380" h="3966295">
                <a:moveTo>
                  <a:pt x="0" y="0"/>
                </a:moveTo>
                <a:lnTo>
                  <a:pt x="3956380" y="0"/>
                </a:lnTo>
                <a:lnTo>
                  <a:pt x="3956380" y="3966296"/>
                </a:lnTo>
                <a:lnTo>
                  <a:pt x="0" y="39662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7788035" y="2540096"/>
            <a:ext cx="94274" cy="5206807"/>
            <a:chOff x="0" y="0"/>
            <a:chExt cx="24829" cy="13713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829" cy="1371340"/>
            </a:xfrm>
            <a:custGeom>
              <a:avLst/>
              <a:gdLst/>
              <a:ahLst/>
              <a:cxnLst/>
              <a:rect l="l" t="t" r="r" b="b"/>
              <a:pathLst>
                <a:path w="24829" h="1371340">
                  <a:moveTo>
                    <a:pt x="12415" y="0"/>
                  </a:moveTo>
                  <a:lnTo>
                    <a:pt x="12415" y="0"/>
                  </a:lnTo>
                  <a:cubicBezTo>
                    <a:pt x="15707" y="0"/>
                    <a:pt x="18865" y="1308"/>
                    <a:pt x="21193" y="3636"/>
                  </a:cubicBezTo>
                  <a:cubicBezTo>
                    <a:pt x="23521" y="5964"/>
                    <a:pt x="24829" y="9122"/>
                    <a:pt x="24829" y="12415"/>
                  </a:cubicBezTo>
                  <a:lnTo>
                    <a:pt x="24829" y="1358925"/>
                  </a:lnTo>
                  <a:cubicBezTo>
                    <a:pt x="24829" y="1362218"/>
                    <a:pt x="23521" y="1365376"/>
                    <a:pt x="21193" y="1367704"/>
                  </a:cubicBezTo>
                  <a:cubicBezTo>
                    <a:pt x="18865" y="1370032"/>
                    <a:pt x="15707" y="1371340"/>
                    <a:pt x="12415" y="1371340"/>
                  </a:cubicBezTo>
                  <a:lnTo>
                    <a:pt x="12415" y="1371340"/>
                  </a:lnTo>
                  <a:cubicBezTo>
                    <a:pt x="9122" y="1371340"/>
                    <a:pt x="5964" y="1370032"/>
                    <a:pt x="3636" y="1367704"/>
                  </a:cubicBezTo>
                  <a:cubicBezTo>
                    <a:pt x="1308" y="1365376"/>
                    <a:pt x="0" y="1362218"/>
                    <a:pt x="0" y="1358925"/>
                  </a:cubicBezTo>
                  <a:lnTo>
                    <a:pt x="0" y="12415"/>
                  </a:lnTo>
                  <a:cubicBezTo>
                    <a:pt x="0" y="9122"/>
                    <a:pt x="1308" y="5964"/>
                    <a:pt x="3636" y="3636"/>
                  </a:cubicBezTo>
                  <a:cubicBezTo>
                    <a:pt x="5964" y="1308"/>
                    <a:pt x="9122" y="0"/>
                    <a:pt x="12415" y="0"/>
                  </a:cubicBezTo>
                  <a:close/>
                </a:path>
              </a:pathLst>
            </a:custGeom>
            <a:solidFill>
              <a:srgbClr val="FDF8F5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829" cy="1409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806297">
            <a:off x="3497693" y="7919692"/>
            <a:ext cx="2776092" cy="4270910"/>
          </a:xfrm>
          <a:custGeom>
            <a:avLst/>
            <a:gdLst/>
            <a:ahLst/>
            <a:cxnLst/>
            <a:rect l="l" t="t" r="r" b="b"/>
            <a:pathLst>
              <a:path w="2776092" h="4270910">
                <a:moveTo>
                  <a:pt x="0" y="0"/>
                </a:moveTo>
                <a:lnTo>
                  <a:pt x="2776091" y="0"/>
                </a:lnTo>
                <a:lnTo>
                  <a:pt x="2776091" y="4270910"/>
                </a:lnTo>
                <a:lnTo>
                  <a:pt x="0" y="4270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 rot="-715009" flipV="1">
            <a:off x="6350259" y="-1694724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3749685"/>
                </a:moveTo>
                <a:lnTo>
                  <a:pt x="5067140" y="3749685"/>
                </a:lnTo>
                <a:lnTo>
                  <a:pt x="5067140" y="0"/>
                </a:lnTo>
                <a:lnTo>
                  <a:pt x="0" y="0"/>
                </a:lnTo>
                <a:lnTo>
                  <a:pt x="0" y="374968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3" name="Group 13"/>
          <p:cNvGrpSpPr/>
          <p:nvPr/>
        </p:nvGrpSpPr>
        <p:grpSpPr>
          <a:xfrm>
            <a:off x="16169593" y="8198397"/>
            <a:ext cx="799459" cy="79945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569322" y="6488537"/>
            <a:ext cx="1487681" cy="148768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83673" y="-458981"/>
            <a:ext cx="1487681" cy="148768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1474469" y="8502043"/>
            <a:ext cx="3937301" cy="1220563"/>
          </a:xfrm>
          <a:custGeom>
            <a:avLst/>
            <a:gdLst/>
            <a:ahLst/>
            <a:cxnLst/>
            <a:rect l="l" t="t" r="r" b="b"/>
            <a:pathLst>
              <a:path w="3937301" h="1220563">
                <a:moveTo>
                  <a:pt x="0" y="0"/>
                </a:moveTo>
                <a:lnTo>
                  <a:pt x="3937302" y="0"/>
                </a:lnTo>
                <a:lnTo>
                  <a:pt x="3937302" y="1220563"/>
                </a:lnTo>
                <a:lnTo>
                  <a:pt x="0" y="1220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Freeform 23"/>
          <p:cNvSpPr/>
          <p:nvPr/>
        </p:nvSpPr>
        <p:spPr>
          <a:xfrm>
            <a:off x="8526780" y="1909070"/>
            <a:ext cx="5757649" cy="1262053"/>
          </a:xfrm>
          <a:custGeom>
            <a:avLst/>
            <a:gdLst/>
            <a:ahLst/>
            <a:cxnLst/>
            <a:rect l="l" t="t" r="r" b="b"/>
            <a:pathLst>
              <a:path w="5757649" h="1262053">
                <a:moveTo>
                  <a:pt x="0" y="0"/>
                </a:moveTo>
                <a:lnTo>
                  <a:pt x="5757649" y="0"/>
                </a:lnTo>
                <a:lnTo>
                  <a:pt x="5757649" y="1262053"/>
                </a:lnTo>
                <a:lnTo>
                  <a:pt x="0" y="12620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4" name="Freeform 24"/>
          <p:cNvSpPr/>
          <p:nvPr/>
        </p:nvSpPr>
        <p:spPr>
          <a:xfrm>
            <a:off x="8526780" y="8433631"/>
            <a:ext cx="1153779" cy="1357387"/>
          </a:xfrm>
          <a:custGeom>
            <a:avLst/>
            <a:gdLst/>
            <a:ahLst/>
            <a:cxnLst/>
            <a:rect l="l" t="t" r="r" b="b"/>
            <a:pathLst>
              <a:path w="1153779" h="1357387">
                <a:moveTo>
                  <a:pt x="0" y="0"/>
                </a:moveTo>
                <a:lnTo>
                  <a:pt x="1153779" y="0"/>
                </a:lnTo>
                <a:lnTo>
                  <a:pt x="1153779" y="1357387"/>
                </a:lnTo>
                <a:lnTo>
                  <a:pt x="0" y="135738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5" name="TextBox 25"/>
          <p:cNvSpPr txBox="1"/>
          <p:nvPr/>
        </p:nvSpPr>
        <p:spPr>
          <a:xfrm>
            <a:off x="8526780" y="7346854"/>
            <a:ext cx="688499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99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Law Enforcement Agencies (LEAs) – NPS Detection and Investigation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569322" y="9800543"/>
            <a:ext cx="1612484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500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Date: 04/11/2025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8B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3399" y="1085850"/>
            <a:ext cx="9881202" cy="228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8000">
                <a:solidFill>
                  <a:srgbClr val="FDF8F5"/>
                </a:solidFill>
                <a:latin typeface="Lazydog"/>
                <a:ea typeface="Lazydog"/>
                <a:cs typeface="Lazydog"/>
                <a:sym typeface="Lazydog"/>
              </a:rPr>
              <a:t>Purpose of the Workshop</a:t>
            </a:r>
          </a:p>
        </p:txBody>
      </p:sp>
      <p:sp>
        <p:nvSpPr>
          <p:cNvPr id="3" name="Freeform 3"/>
          <p:cNvSpPr/>
          <p:nvPr/>
        </p:nvSpPr>
        <p:spPr>
          <a:xfrm rot="4782800">
            <a:off x="-236436" y="-1154978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1" name="Group 11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00000">
            <a:off x="9096863" y="896967"/>
            <a:ext cx="94274" cy="5206807"/>
            <a:chOff x="0" y="0"/>
            <a:chExt cx="24829" cy="13713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829" cy="1371340"/>
            </a:xfrm>
            <a:custGeom>
              <a:avLst/>
              <a:gdLst/>
              <a:ahLst/>
              <a:cxnLst/>
              <a:rect l="l" t="t" r="r" b="b"/>
              <a:pathLst>
                <a:path w="24829" h="1371340">
                  <a:moveTo>
                    <a:pt x="12415" y="0"/>
                  </a:moveTo>
                  <a:lnTo>
                    <a:pt x="12415" y="0"/>
                  </a:lnTo>
                  <a:cubicBezTo>
                    <a:pt x="15707" y="0"/>
                    <a:pt x="18865" y="1308"/>
                    <a:pt x="21193" y="3636"/>
                  </a:cubicBezTo>
                  <a:cubicBezTo>
                    <a:pt x="23521" y="5964"/>
                    <a:pt x="24829" y="9122"/>
                    <a:pt x="24829" y="12415"/>
                  </a:cubicBezTo>
                  <a:lnTo>
                    <a:pt x="24829" y="1358925"/>
                  </a:lnTo>
                  <a:cubicBezTo>
                    <a:pt x="24829" y="1362218"/>
                    <a:pt x="23521" y="1365376"/>
                    <a:pt x="21193" y="1367704"/>
                  </a:cubicBezTo>
                  <a:cubicBezTo>
                    <a:pt x="18865" y="1370032"/>
                    <a:pt x="15707" y="1371340"/>
                    <a:pt x="12415" y="1371340"/>
                  </a:cubicBezTo>
                  <a:lnTo>
                    <a:pt x="12415" y="1371340"/>
                  </a:lnTo>
                  <a:cubicBezTo>
                    <a:pt x="9122" y="1371340"/>
                    <a:pt x="5964" y="1370032"/>
                    <a:pt x="3636" y="1367704"/>
                  </a:cubicBezTo>
                  <a:cubicBezTo>
                    <a:pt x="1308" y="1365376"/>
                    <a:pt x="0" y="1362218"/>
                    <a:pt x="0" y="1358925"/>
                  </a:cubicBezTo>
                  <a:lnTo>
                    <a:pt x="0" y="12415"/>
                  </a:lnTo>
                  <a:cubicBezTo>
                    <a:pt x="0" y="9122"/>
                    <a:pt x="1308" y="5964"/>
                    <a:pt x="3636" y="3636"/>
                  </a:cubicBezTo>
                  <a:cubicBezTo>
                    <a:pt x="5964" y="1308"/>
                    <a:pt x="9122" y="0"/>
                    <a:pt x="12415" y="0"/>
                  </a:cubicBezTo>
                  <a:close/>
                </a:path>
              </a:pathLst>
            </a:custGeom>
            <a:solidFill>
              <a:srgbClr val="FDF8F5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829" cy="1409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240667" y="4136281"/>
            <a:ext cx="11806666" cy="4460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To discuss current operational challenges faced by Law Enforcement Agencies (LEAs) in detecting and handling New Psychoactive Substances (NPS).</a:t>
            </a:r>
          </a:p>
          <a:p>
            <a:pPr algn="just">
              <a:lnSpc>
                <a:spcPts val="1399"/>
              </a:lnSpc>
            </a:pPr>
            <a:endParaRPr lang="en-US" sz="2900">
              <a:solidFill>
                <a:srgbClr val="FDF8F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To identify practical needs and requirements — both technical and procedural — that could guide the design of future tools and systems.</a:t>
            </a:r>
          </a:p>
          <a:p>
            <a:pPr algn="just">
              <a:lnSpc>
                <a:spcPts val="1399"/>
              </a:lnSpc>
            </a:pPr>
            <a:endParaRPr lang="en-US" sz="2900">
              <a:solidFill>
                <a:srgbClr val="FDF8F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To collect insights directly from practitioners to ensure that future solutions align with real-world contexts.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782800">
            <a:off x="-761030" y="-1521417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TextBox 10"/>
          <p:cNvSpPr txBox="1"/>
          <p:nvPr/>
        </p:nvSpPr>
        <p:spPr>
          <a:xfrm>
            <a:off x="2624247" y="2844425"/>
            <a:ext cx="13039506" cy="5088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sz="2199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PENTION is an EU-funded Horizon Europe project developing an AI-driven system to detect synthetic drugs and precursors.</a:t>
            </a:r>
          </a:p>
          <a:p>
            <a:pPr algn="just">
              <a:lnSpc>
                <a:spcPts val="1920"/>
              </a:lnSpc>
            </a:pPr>
            <a:endParaRPr lang="en-US" sz="2199">
              <a:solidFill>
                <a:srgbClr val="068B6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r>
              <a:rPr lang="en-US" sz="2199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It supports Law Enforcement and Customs Agencies in identifying illicit substances in vehicles, parcels, and lab environments.</a:t>
            </a:r>
          </a:p>
          <a:p>
            <a:pPr algn="just">
              <a:lnSpc>
                <a:spcPts val="1920"/>
              </a:lnSpc>
            </a:pPr>
            <a:endParaRPr lang="en-US" sz="2199">
              <a:solidFill>
                <a:srgbClr val="068B6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r>
              <a:rPr lang="en-US" sz="2199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The system combines:</a:t>
            </a: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🧠 AI-based detection and signal analysis</a:t>
            </a: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🚐 Mobile lab prototype (PENTION-S) for field use</a:t>
            </a: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⚙️ Integrated hardware, sensors, and software for on-site screening</a:t>
            </a:r>
          </a:p>
          <a:p>
            <a:pPr algn="just">
              <a:lnSpc>
                <a:spcPts val="1920"/>
              </a:lnSpc>
            </a:pPr>
            <a:endParaRPr lang="en-US" sz="2199">
              <a:solidFill>
                <a:srgbClr val="068B6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r>
              <a:rPr lang="en-US" sz="2199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This workshop is part of Work Package 1 – Requirements Definition, aimed at collecting insights from LEAs to shape future design and validation.</a:t>
            </a:r>
          </a:p>
        </p:txBody>
      </p:sp>
      <p:grpSp>
        <p:nvGrpSpPr>
          <p:cNvPr id="11" name="Group 11"/>
          <p:cNvGrpSpPr/>
          <p:nvPr/>
        </p:nvGrpSpPr>
        <p:grpSpPr>
          <a:xfrm rot="5400000">
            <a:off x="9096863" y="-765539"/>
            <a:ext cx="94274" cy="5206807"/>
            <a:chOff x="0" y="0"/>
            <a:chExt cx="24829" cy="13713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829" cy="1371340"/>
            </a:xfrm>
            <a:custGeom>
              <a:avLst/>
              <a:gdLst/>
              <a:ahLst/>
              <a:cxnLst/>
              <a:rect l="l" t="t" r="r" b="b"/>
              <a:pathLst>
                <a:path w="24829" h="1371340">
                  <a:moveTo>
                    <a:pt x="12415" y="0"/>
                  </a:moveTo>
                  <a:lnTo>
                    <a:pt x="12415" y="0"/>
                  </a:lnTo>
                  <a:cubicBezTo>
                    <a:pt x="15707" y="0"/>
                    <a:pt x="18865" y="1308"/>
                    <a:pt x="21193" y="3636"/>
                  </a:cubicBezTo>
                  <a:cubicBezTo>
                    <a:pt x="23521" y="5964"/>
                    <a:pt x="24829" y="9122"/>
                    <a:pt x="24829" y="12415"/>
                  </a:cubicBezTo>
                  <a:lnTo>
                    <a:pt x="24829" y="1358925"/>
                  </a:lnTo>
                  <a:cubicBezTo>
                    <a:pt x="24829" y="1362218"/>
                    <a:pt x="23521" y="1365376"/>
                    <a:pt x="21193" y="1367704"/>
                  </a:cubicBezTo>
                  <a:cubicBezTo>
                    <a:pt x="18865" y="1370032"/>
                    <a:pt x="15707" y="1371340"/>
                    <a:pt x="12415" y="1371340"/>
                  </a:cubicBezTo>
                  <a:lnTo>
                    <a:pt x="12415" y="1371340"/>
                  </a:lnTo>
                  <a:cubicBezTo>
                    <a:pt x="9122" y="1371340"/>
                    <a:pt x="5964" y="1370032"/>
                    <a:pt x="3636" y="1367704"/>
                  </a:cubicBezTo>
                  <a:cubicBezTo>
                    <a:pt x="1308" y="1365376"/>
                    <a:pt x="0" y="1362218"/>
                    <a:pt x="0" y="1358925"/>
                  </a:cubicBezTo>
                  <a:lnTo>
                    <a:pt x="0" y="12415"/>
                  </a:lnTo>
                  <a:cubicBezTo>
                    <a:pt x="0" y="9122"/>
                    <a:pt x="1308" y="5964"/>
                    <a:pt x="3636" y="3636"/>
                  </a:cubicBezTo>
                  <a:cubicBezTo>
                    <a:pt x="5964" y="1308"/>
                    <a:pt x="9122" y="0"/>
                    <a:pt x="12415" y="0"/>
                  </a:cubicBezTo>
                  <a:close/>
                </a:path>
              </a:pathLst>
            </a:custGeom>
            <a:solidFill>
              <a:srgbClr val="068B6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4829" cy="1409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11540" y="8997513"/>
            <a:ext cx="11264919" cy="952500"/>
            <a:chOff x="0" y="0"/>
            <a:chExt cx="15019892" cy="127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06191" cy="1270000"/>
            </a:xfrm>
            <a:custGeom>
              <a:avLst/>
              <a:gdLst/>
              <a:ahLst/>
              <a:cxnLst/>
              <a:rect l="l" t="t" r="r" b="b"/>
              <a:pathLst>
                <a:path w="1906191" h="1270000">
                  <a:moveTo>
                    <a:pt x="0" y="0"/>
                  </a:moveTo>
                  <a:lnTo>
                    <a:pt x="1906191" y="0"/>
                  </a:lnTo>
                  <a:lnTo>
                    <a:pt x="1906191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3255406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874621" y="0"/>
              <a:ext cx="4096774" cy="1270000"/>
            </a:xfrm>
            <a:custGeom>
              <a:avLst/>
              <a:gdLst/>
              <a:ahLst/>
              <a:cxnLst/>
              <a:rect l="l" t="t" r="r" b="b"/>
              <a:pathLst>
                <a:path w="4096774" h="1270000">
                  <a:moveTo>
                    <a:pt x="0" y="0"/>
                  </a:moveTo>
                  <a:lnTo>
                    <a:pt x="4096774" y="0"/>
                  </a:lnTo>
                  <a:lnTo>
                    <a:pt x="4096774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1320610" y="0"/>
              <a:ext cx="3699282" cy="1270000"/>
            </a:xfrm>
            <a:custGeom>
              <a:avLst/>
              <a:gdLst/>
              <a:ahLst/>
              <a:cxnLst/>
              <a:rect l="l" t="t" r="r" b="b"/>
              <a:pathLst>
                <a:path w="3699282" h="1270000">
                  <a:moveTo>
                    <a:pt x="0" y="0"/>
                  </a:moveTo>
                  <a:lnTo>
                    <a:pt x="3699282" y="0"/>
                  </a:lnTo>
                  <a:lnTo>
                    <a:pt x="3699282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171471" y="410575"/>
            <a:ext cx="11945058" cy="123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4"/>
              </a:lnSpc>
            </a:pPr>
            <a:r>
              <a:rPr lang="en-US" sz="8499">
                <a:solidFill>
                  <a:srgbClr val="068B67"/>
                </a:solidFill>
                <a:latin typeface="Lazydog"/>
                <a:ea typeface="Lazydog"/>
                <a:cs typeface="Lazydog"/>
                <a:sym typeface="Lazydog"/>
              </a:rPr>
              <a:t>The PENTION Initiative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8B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9949" y="1085850"/>
            <a:ext cx="8347891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5"/>
              </a:lnSpc>
            </a:pPr>
            <a:r>
              <a:rPr lang="en-US" sz="7500">
                <a:solidFill>
                  <a:srgbClr val="FDF8F5"/>
                </a:solidFill>
                <a:latin typeface="Lazydog"/>
                <a:ea typeface="Lazydog"/>
                <a:cs typeface="Lazydog"/>
                <a:sym typeface="Lazydog"/>
              </a:rPr>
              <a:t>What Are “Requirements”?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39949" y="3488817"/>
            <a:ext cx="12837529" cy="5769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5"/>
              </a:lnSpc>
            </a:pPr>
            <a:r>
              <a:rPr lang="en-US" sz="239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In this workshop, the term requirements refers to the needs, conditions, and constraints  that a system or process must satisfy to be useful and effective in real operations.</a:t>
            </a:r>
          </a:p>
          <a:p>
            <a:pPr algn="just">
              <a:lnSpc>
                <a:spcPts val="2975"/>
              </a:lnSpc>
            </a:pPr>
            <a:endParaRPr lang="en-US" sz="2399">
              <a:solidFill>
                <a:srgbClr val="FDF8F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75"/>
              </a:lnSpc>
            </a:pPr>
            <a:r>
              <a:rPr lang="en-US" sz="239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These can include:</a:t>
            </a:r>
          </a:p>
          <a:p>
            <a:pPr marL="518158" lvl="1" indent="-259079" algn="just">
              <a:lnSpc>
                <a:spcPts val="2975"/>
              </a:lnSpc>
              <a:buFont typeface="Arial"/>
              <a:buChar char="•"/>
            </a:pPr>
            <a:r>
              <a:rPr lang="en-US" sz="239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💻 Software requirements – functions, interfaces, and data management for detection and analysis.</a:t>
            </a:r>
          </a:p>
          <a:p>
            <a:pPr marL="518158" lvl="1" indent="-259079" algn="just">
              <a:lnSpc>
                <a:spcPts val="2975"/>
              </a:lnSpc>
              <a:buFont typeface="Arial"/>
              <a:buChar char="•"/>
            </a:pPr>
            <a:r>
              <a:rPr lang="en-US" sz="239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⚙️ Hardware requirements – sensors, communication systems, and equipment setup (e.g. inside the mobile lab or bus).</a:t>
            </a:r>
          </a:p>
          <a:p>
            <a:pPr marL="518158" lvl="1" indent="-259079" algn="just">
              <a:lnSpc>
                <a:spcPts val="2975"/>
              </a:lnSpc>
              <a:buFont typeface="Arial"/>
              <a:buChar char="•"/>
            </a:pPr>
            <a:r>
              <a:rPr lang="en-US" sz="239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👮 Operational requirements – how officers and technicians interact with the system during field activities.</a:t>
            </a:r>
          </a:p>
          <a:p>
            <a:pPr marL="518158" lvl="1" indent="-259079" algn="just">
              <a:lnSpc>
                <a:spcPts val="2975"/>
              </a:lnSpc>
              <a:buFont typeface="Arial"/>
              <a:buChar char="•"/>
            </a:pPr>
            <a:r>
              <a:rPr lang="en-US" sz="239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🧩 Procedural requirements – workflows, reporting, and coordination with other agencies.</a:t>
            </a:r>
          </a:p>
          <a:p>
            <a:pPr algn="just">
              <a:lnSpc>
                <a:spcPts val="1488"/>
              </a:lnSpc>
            </a:pPr>
            <a:endParaRPr lang="en-US" sz="2399">
              <a:solidFill>
                <a:srgbClr val="FDF8F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75"/>
              </a:lnSpc>
            </a:pPr>
            <a:r>
              <a:rPr lang="en-US" sz="239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Together, these requirements define the context of use and ensure the final system supports real-world LEA missions.</a:t>
            </a:r>
          </a:p>
        </p:txBody>
      </p:sp>
      <p:sp>
        <p:nvSpPr>
          <p:cNvPr id="4" name="Freeform 4"/>
          <p:cNvSpPr/>
          <p:nvPr/>
        </p:nvSpPr>
        <p:spPr>
          <a:xfrm>
            <a:off x="15187732" y="3517392"/>
            <a:ext cx="1780255" cy="2627683"/>
          </a:xfrm>
          <a:custGeom>
            <a:avLst/>
            <a:gdLst/>
            <a:ahLst/>
            <a:cxnLst/>
            <a:rect l="l" t="t" r="r" b="b"/>
            <a:pathLst>
              <a:path w="1780255" h="2627683">
                <a:moveTo>
                  <a:pt x="0" y="0"/>
                </a:moveTo>
                <a:lnTo>
                  <a:pt x="1780255" y="0"/>
                </a:lnTo>
                <a:lnTo>
                  <a:pt x="1780255" y="2627683"/>
                </a:lnTo>
                <a:lnTo>
                  <a:pt x="0" y="262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15678130" y="628971"/>
            <a:ext cx="799459" cy="79945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1028700"/>
            <a:ext cx="1487681" cy="148768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00160" y="-458981"/>
            <a:ext cx="1487681" cy="148768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390860" y="6417993"/>
            <a:ext cx="1373999" cy="2840307"/>
          </a:xfrm>
          <a:custGeom>
            <a:avLst/>
            <a:gdLst/>
            <a:ahLst/>
            <a:cxnLst/>
            <a:rect l="l" t="t" r="r" b="b"/>
            <a:pathLst>
              <a:path w="1373999" h="2840307">
                <a:moveTo>
                  <a:pt x="0" y="0"/>
                </a:moveTo>
                <a:lnTo>
                  <a:pt x="1373999" y="0"/>
                </a:lnTo>
                <a:lnTo>
                  <a:pt x="1373999" y="2840307"/>
                </a:lnTo>
                <a:lnTo>
                  <a:pt x="0" y="2840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8B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95220" y="1160987"/>
            <a:ext cx="10897559" cy="1303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89"/>
              </a:lnSpc>
            </a:pPr>
            <a:r>
              <a:rPr lang="en-US" sz="8999">
                <a:solidFill>
                  <a:srgbClr val="FDF8F5"/>
                </a:solidFill>
                <a:latin typeface="Lazydog"/>
                <a:ea typeface="Lazydog"/>
                <a:cs typeface="Lazydog"/>
                <a:sym typeface="Lazydog"/>
              </a:rPr>
              <a:t>Discussion Topics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4620813" y="694583"/>
            <a:ext cx="799459" cy="79945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4782800">
            <a:off x="-1187201" y="-1730799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7" name="Group 7"/>
          <p:cNvGrpSpPr/>
          <p:nvPr/>
        </p:nvGrpSpPr>
        <p:grpSpPr>
          <a:xfrm>
            <a:off x="-458981" y="2007501"/>
            <a:ext cx="1487681" cy="148768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5167942">
            <a:off x="15319012" y="1096844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5"/>
                </a:lnTo>
                <a:lnTo>
                  <a:pt x="0" y="37496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1" name="Group 11"/>
          <p:cNvGrpSpPr/>
          <p:nvPr/>
        </p:nvGrpSpPr>
        <p:grpSpPr>
          <a:xfrm>
            <a:off x="1028700" y="3266022"/>
            <a:ext cx="16230600" cy="4719852"/>
            <a:chOff x="0" y="0"/>
            <a:chExt cx="21640800" cy="629313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6972809" cy="1765451"/>
              <a:chOff x="0" y="0"/>
              <a:chExt cx="1377345" cy="34873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377345" cy="348731"/>
              </a:xfrm>
              <a:custGeom>
                <a:avLst/>
                <a:gdLst/>
                <a:ahLst/>
                <a:cxnLst/>
                <a:rect l="l" t="t" r="r" b="b"/>
                <a:pathLst>
                  <a:path w="1377345" h="348731">
                    <a:moveTo>
                      <a:pt x="99187" y="0"/>
                    </a:moveTo>
                    <a:lnTo>
                      <a:pt x="1278158" y="0"/>
                    </a:lnTo>
                    <a:cubicBezTo>
                      <a:pt x="1304464" y="0"/>
                      <a:pt x="1329693" y="10450"/>
                      <a:pt x="1348294" y="29051"/>
                    </a:cubicBezTo>
                    <a:cubicBezTo>
                      <a:pt x="1366895" y="47652"/>
                      <a:pt x="1377345" y="72881"/>
                      <a:pt x="1377345" y="99187"/>
                    </a:cubicBezTo>
                    <a:lnTo>
                      <a:pt x="1377345" y="249544"/>
                    </a:lnTo>
                    <a:cubicBezTo>
                      <a:pt x="1377345" y="275850"/>
                      <a:pt x="1366895" y="301079"/>
                      <a:pt x="1348294" y="319680"/>
                    </a:cubicBezTo>
                    <a:cubicBezTo>
                      <a:pt x="1329693" y="338281"/>
                      <a:pt x="1304464" y="348731"/>
                      <a:pt x="1278158" y="348731"/>
                    </a:cubicBezTo>
                    <a:lnTo>
                      <a:pt x="99187" y="348731"/>
                    </a:lnTo>
                    <a:cubicBezTo>
                      <a:pt x="72881" y="348731"/>
                      <a:pt x="47652" y="338281"/>
                      <a:pt x="29051" y="319680"/>
                    </a:cubicBezTo>
                    <a:cubicBezTo>
                      <a:pt x="10450" y="301079"/>
                      <a:pt x="0" y="275850"/>
                      <a:pt x="0" y="249544"/>
                    </a:cubicBezTo>
                    <a:lnTo>
                      <a:pt x="0" y="99187"/>
                    </a:lnTo>
                    <a:cubicBezTo>
                      <a:pt x="0" y="72881"/>
                      <a:pt x="10450" y="47652"/>
                      <a:pt x="29051" y="29051"/>
                    </a:cubicBezTo>
                    <a:cubicBezTo>
                      <a:pt x="47652" y="10450"/>
                      <a:pt x="72881" y="0"/>
                      <a:pt x="99187" y="0"/>
                    </a:cubicBezTo>
                    <a:close/>
                  </a:path>
                </a:pathLst>
              </a:custGeom>
              <a:solidFill>
                <a:srgbClr val="FDF8F5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377345" cy="386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91455" y="180839"/>
              <a:ext cx="5589900" cy="1349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68B67"/>
                  </a:solidFill>
                  <a:latin typeface="Poppins"/>
                  <a:ea typeface="Poppins"/>
                  <a:cs typeface="Poppins"/>
                  <a:sym typeface="Poppins"/>
                </a:rPr>
                <a:t>Operational Challenges 🧩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7333996" y="0"/>
              <a:ext cx="6972809" cy="1765451"/>
              <a:chOff x="0" y="0"/>
              <a:chExt cx="1377345" cy="34873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377345" cy="348731"/>
              </a:xfrm>
              <a:custGeom>
                <a:avLst/>
                <a:gdLst/>
                <a:ahLst/>
                <a:cxnLst/>
                <a:rect l="l" t="t" r="r" b="b"/>
                <a:pathLst>
                  <a:path w="1377345" h="348731">
                    <a:moveTo>
                      <a:pt x="99187" y="0"/>
                    </a:moveTo>
                    <a:lnTo>
                      <a:pt x="1278158" y="0"/>
                    </a:lnTo>
                    <a:cubicBezTo>
                      <a:pt x="1304464" y="0"/>
                      <a:pt x="1329693" y="10450"/>
                      <a:pt x="1348294" y="29051"/>
                    </a:cubicBezTo>
                    <a:cubicBezTo>
                      <a:pt x="1366895" y="47652"/>
                      <a:pt x="1377345" y="72881"/>
                      <a:pt x="1377345" y="99187"/>
                    </a:cubicBezTo>
                    <a:lnTo>
                      <a:pt x="1377345" y="249544"/>
                    </a:lnTo>
                    <a:cubicBezTo>
                      <a:pt x="1377345" y="275850"/>
                      <a:pt x="1366895" y="301079"/>
                      <a:pt x="1348294" y="319680"/>
                    </a:cubicBezTo>
                    <a:cubicBezTo>
                      <a:pt x="1329693" y="338281"/>
                      <a:pt x="1304464" y="348731"/>
                      <a:pt x="1278158" y="348731"/>
                    </a:cubicBezTo>
                    <a:lnTo>
                      <a:pt x="99187" y="348731"/>
                    </a:lnTo>
                    <a:cubicBezTo>
                      <a:pt x="72881" y="348731"/>
                      <a:pt x="47652" y="338281"/>
                      <a:pt x="29051" y="319680"/>
                    </a:cubicBezTo>
                    <a:cubicBezTo>
                      <a:pt x="10450" y="301079"/>
                      <a:pt x="0" y="275850"/>
                      <a:pt x="0" y="249544"/>
                    </a:cubicBezTo>
                    <a:lnTo>
                      <a:pt x="0" y="99187"/>
                    </a:lnTo>
                    <a:cubicBezTo>
                      <a:pt x="0" y="72881"/>
                      <a:pt x="10450" y="47652"/>
                      <a:pt x="29051" y="29051"/>
                    </a:cubicBezTo>
                    <a:cubicBezTo>
                      <a:pt x="47652" y="10450"/>
                      <a:pt x="72881" y="0"/>
                      <a:pt x="99187" y="0"/>
                    </a:cubicBezTo>
                    <a:close/>
                  </a:path>
                </a:pathLst>
              </a:custGeom>
              <a:solidFill>
                <a:srgbClr val="FDF8F5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377345" cy="386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9422925" y="180839"/>
              <a:ext cx="2794950" cy="1349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68B67"/>
                  </a:solidFill>
                  <a:latin typeface="Poppins"/>
                  <a:ea typeface="Poppins"/>
                  <a:cs typeface="Poppins"/>
                  <a:sym typeface="Poppins"/>
                </a:rPr>
                <a:t>Portability 🚐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4667991" y="0"/>
              <a:ext cx="6972809" cy="1765451"/>
              <a:chOff x="0" y="0"/>
              <a:chExt cx="1377345" cy="34873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377345" cy="348731"/>
              </a:xfrm>
              <a:custGeom>
                <a:avLst/>
                <a:gdLst/>
                <a:ahLst/>
                <a:cxnLst/>
                <a:rect l="l" t="t" r="r" b="b"/>
                <a:pathLst>
                  <a:path w="1377345" h="348731">
                    <a:moveTo>
                      <a:pt x="99187" y="0"/>
                    </a:moveTo>
                    <a:lnTo>
                      <a:pt x="1278158" y="0"/>
                    </a:lnTo>
                    <a:cubicBezTo>
                      <a:pt x="1304464" y="0"/>
                      <a:pt x="1329693" y="10450"/>
                      <a:pt x="1348294" y="29051"/>
                    </a:cubicBezTo>
                    <a:cubicBezTo>
                      <a:pt x="1366895" y="47652"/>
                      <a:pt x="1377345" y="72881"/>
                      <a:pt x="1377345" y="99187"/>
                    </a:cubicBezTo>
                    <a:lnTo>
                      <a:pt x="1377345" y="249544"/>
                    </a:lnTo>
                    <a:cubicBezTo>
                      <a:pt x="1377345" y="275850"/>
                      <a:pt x="1366895" y="301079"/>
                      <a:pt x="1348294" y="319680"/>
                    </a:cubicBezTo>
                    <a:cubicBezTo>
                      <a:pt x="1329693" y="338281"/>
                      <a:pt x="1304464" y="348731"/>
                      <a:pt x="1278158" y="348731"/>
                    </a:cubicBezTo>
                    <a:lnTo>
                      <a:pt x="99187" y="348731"/>
                    </a:lnTo>
                    <a:cubicBezTo>
                      <a:pt x="72881" y="348731"/>
                      <a:pt x="47652" y="338281"/>
                      <a:pt x="29051" y="319680"/>
                    </a:cubicBezTo>
                    <a:cubicBezTo>
                      <a:pt x="10450" y="301079"/>
                      <a:pt x="0" y="275850"/>
                      <a:pt x="0" y="249544"/>
                    </a:cubicBezTo>
                    <a:lnTo>
                      <a:pt x="0" y="99187"/>
                    </a:lnTo>
                    <a:cubicBezTo>
                      <a:pt x="0" y="72881"/>
                      <a:pt x="10450" y="47652"/>
                      <a:pt x="29051" y="29051"/>
                    </a:cubicBezTo>
                    <a:cubicBezTo>
                      <a:pt x="47652" y="10450"/>
                      <a:pt x="72881" y="0"/>
                      <a:pt x="99187" y="0"/>
                    </a:cubicBezTo>
                    <a:close/>
                  </a:path>
                </a:pathLst>
              </a:custGeom>
              <a:solidFill>
                <a:srgbClr val="FDF8F5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377345" cy="386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5979174" y="180839"/>
              <a:ext cx="4350444" cy="1349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68B67"/>
                  </a:solidFill>
                  <a:latin typeface="Poppins"/>
                  <a:ea typeface="Poppins"/>
                  <a:cs typeface="Poppins"/>
                  <a:sym typeface="Poppins"/>
                </a:rPr>
                <a:t>Detection Accuracy 🎯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0" y="2263842"/>
              <a:ext cx="6972809" cy="1765451"/>
              <a:chOff x="0" y="0"/>
              <a:chExt cx="1377345" cy="34873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377345" cy="348731"/>
              </a:xfrm>
              <a:custGeom>
                <a:avLst/>
                <a:gdLst/>
                <a:ahLst/>
                <a:cxnLst/>
                <a:rect l="l" t="t" r="r" b="b"/>
                <a:pathLst>
                  <a:path w="1377345" h="348731">
                    <a:moveTo>
                      <a:pt x="99187" y="0"/>
                    </a:moveTo>
                    <a:lnTo>
                      <a:pt x="1278158" y="0"/>
                    </a:lnTo>
                    <a:cubicBezTo>
                      <a:pt x="1304464" y="0"/>
                      <a:pt x="1329693" y="10450"/>
                      <a:pt x="1348294" y="29051"/>
                    </a:cubicBezTo>
                    <a:cubicBezTo>
                      <a:pt x="1366895" y="47652"/>
                      <a:pt x="1377345" y="72881"/>
                      <a:pt x="1377345" y="99187"/>
                    </a:cubicBezTo>
                    <a:lnTo>
                      <a:pt x="1377345" y="249544"/>
                    </a:lnTo>
                    <a:cubicBezTo>
                      <a:pt x="1377345" y="275850"/>
                      <a:pt x="1366895" y="301079"/>
                      <a:pt x="1348294" y="319680"/>
                    </a:cubicBezTo>
                    <a:cubicBezTo>
                      <a:pt x="1329693" y="338281"/>
                      <a:pt x="1304464" y="348731"/>
                      <a:pt x="1278158" y="348731"/>
                    </a:cubicBezTo>
                    <a:lnTo>
                      <a:pt x="99187" y="348731"/>
                    </a:lnTo>
                    <a:cubicBezTo>
                      <a:pt x="72881" y="348731"/>
                      <a:pt x="47652" y="338281"/>
                      <a:pt x="29051" y="319680"/>
                    </a:cubicBezTo>
                    <a:cubicBezTo>
                      <a:pt x="10450" y="301079"/>
                      <a:pt x="0" y="275850"/>
                      <a:pt x="0" y="249544"/>
                    </a:cubicBezTo>
                    <a:lnTo>
                      <a:pt x="0" y="99187"/>
                    </a:lnTo>
                    <a:cubicBezTo>
                      <a:pt x="0" y="72881"/>
                      <a:pt x="10450" y="47652"/>
                      <a:pt x="29051" y="29051"/>
                    </a:cubicBezTo>
                    <a:cubicBezTo>
                      <a:pt x="47652" y="10450"/>
                      <a:pt x="72881" y="0"/>
                      <a:pt x="99187" y="0"/>
                    </a:cubicBezTo>
                    <a:close/>
                  </a:path>
                </a:pathLst>
              </a:custGeom>
              <a:solidFill>
                <a:srgbClr val="FDF8F5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377345" cy="386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619427" y="2444681"/>
              <a:ext cx="3733955" cy="1349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68B67"/>
                  </a:solidFill>
                  <a:latin typeface="Poppins"/>
                  <a:ea typeface="Poppins"/>
                  <a:cs typeface="Poppins"/>
                  <a:sym typeface="Poppins"/>
                </a:rPr>
                <a:t>AI Assistance 🤖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7333996" y="2263842"/>
              <a:ext cx="6972809" cy="1765451"/>
              <a:chOff x="0" y="0"/>
              <a:chExt cx="1377345" cy="34873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77345" cy="348731"/>
              </a:xfrm>
              <a:custGeom>
                <a:avLst/>
                <a:gdLst/>
                <a:ahLst/>
                <a:cxnLst/>
                <a:rect l="l" t="t" r="r" b="b"/>
                <a:pathLst>
                  <a:path w="1377345" h="348731">
                    <a:moveTo>
                      <a:pt x="99187" y="0"/>
                    </a:moveTo>
                    <a:lnTo>
                      <a:pt x="1278158" y="0"/>
                    </a:lnTo>
                    <a:cubicBezTo>
                      <a:pt x="1304464" y="0"/>
                      <a:pt x="1329693" y="10450"/>
                      <a:pt x="1348294" y="29051"/>
                    </a:cubicBezTo>
                    <a:cubicBezTo>
                      <a:pt x="1366895" y="47652"/>
                      <a:pt x="1377345" y="72881"/>
                      <a:pt x="1377345" y="99187"/>
                    </a:cubicBezTo>
                    <a:lnTo>
                      <a:pt x="1377345" y="249544"/>
                    </a:lnTo>
                    <a:cubicBezTo>
                      <a:pt x="1377345" y="275850"/>
                      <a:pt x="1366895" y="301079"/>
                      <a:pt x="1348294" y="319680"/>
                    </a:cubicBezTo>
                    <a:cubicBezTo>
                      <a:pt x="1329693" y="338281"/>
                      <a:pt x="1304464" y="348731"/>
                      <a:pt x="1278158" y="348731"/>
                    </a:cubicBezTo>
                    <a:lnTo>
                      <a:pt x="99187" y="348731"/>
                    </a:lnTo>
                    <a:cubicBezTo>
                      <a:pt x="72881" y="348731"/>
                      <a:pt x="47652" y="338281"/>
                      <a:pt x="29051" y="319680"/>
                    </a:cubicBezTo>
                    <a:cubicBezTo>
                      <a:pt x="10450" y="301079"/>
                      <a:pt x="0" y="275850"/>
                      <a:pt x="0" y="249544"/>
                    </a:cubicBezTo>
                    <a:lnTo>
                      <a:pt x="0" y="99187"/>
                    </a:lnTo>
                    <a:cubicBezTo>
                      <a:pt x="0" y="72881"/>
                      <a:pt x="10450" y="47652"/>
                      <a:pt x="29051" y="29051"/>
                    </a:cubicBezTo>
                    <a:cubicBezTo>
                      <a:pt x="47652" y="10450"/>
                      <a:pt x="72881" y="0"/>
                      <a:pt x="99187" y="0"/>
                    </a:cubicBezTo>
                    <a:close/>
                  </a:path>
                </a:pathLst>
              </a:custGeom>
              <a:solidFill>
                <a:srgbClr val="FDF8F5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377345" cy="386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8949886" y="2444681"/>
              <a:ext cx="3741029" cy="1349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68B67"/>
                  </a:solidFill>
                  <a:latin typeface="Poppins"/>
                  <a:ea typeface="Poppins"/>
                  <a:cs typeface="Poppins"/>
                  <a:sym typeface="Poppins"/>
                </a:rPr>
                <a:t>Explainability ⚖️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4667991" y="2263842"/>
              <a:ext cx="6972809" cy="1765451"/>
              <a:chOff x="0" y="0"/>
              <a:chExt cx="1377345" cy="34873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377345" cy="348731"/>
              </a:xfrm>
              <a:custGeom>
                <a:avLst/>
                <a:gdLst/>
                <a:ahLst/>
                <a:cxnLst/>
                <a:rect l="l" t="t" r="r" b="b"/>
                <a:pathLst>
                  <a:path w="1377345" h="348731">
                    <a:moveTo>
                      <a:pt x="99187" y="0"/>
                    </a:moveTo>
                    <a:lnTo>
                      <a:pt x="1278158" y="0"/>
                    </a:lnTo>
                    <a:cubicBezTo>
                      <a:pt x="1304464" y="0"/>
                      <a:pt x="1329693" y="10450"/>
                      <a:pt x="1348294" y="29051"/>
                    </a:cubicBezTo>
                    <a:cubicBezTo>
                      <a:pt x="1366895" y="47652"/>
                      <a:pt x="1377345" y="72881"/>
                      <a:pt x="1377345" y="99187"/>
                    </a:cubicBezTo>
                    <a:lnTo>
                      <a:pt x="1377345" y="249544"/>
                    </a:lnTo>
                    <a:cubicBezTo>
                      <a:pt x="1377345" y="275850"/>
                      <a:pt x="1366895" y="301079"/>
                      <a:pt x="1348294" y="319680"/>
                    </a:cubicBezTo>
                    <a:cubicBezTo>
                      <a:pt x="1329693" y="338281"/>
                      <a:pt x="1304464" y="348731"/>
                      <a:pt x="1278158" y="348731"/>
                    </a:cubicBezTo>
                    <a:lnTo>
                      <a:pt x="99187" y="348731"/>
                    </a:lnTo>
                    <a:cubicBezTo>
                      <a:pt x="72881" y="348731"/>
                      <a:pt x="47652" y="338281"/>
                      <a:pt x="29051" y="319680"/>
                    </a:cubicBezTo>
                    <a:cubicBezTo>
                      <a:pt x="10450" y="301079"/>
                      <a:pt x="0" y="275850"/>
                      <a:pt x="0" y="249544"/>
                    </a:cubicBezTo>
                    <a:lnTo>
                      <a:pt x="0" y="99187"/>
                    </a:lnTo>
                    <a:cubicBezTo>
                      <a:pt x="0" y="72881"/>
                      <a:pt x="10450" y="47652"/>
                      <a:pt x="29051" y="29051"/>
                    </a:cubicBezTo>
                    <a:cubicBezTo>
                      <a:pt x="47652" y="10450"/>
                      <a:pt x="72881" y="0"/>
                      <a:pt x="99187" y="0"/>
                    </a:cubicBezTo>
                    <a:close/>
                  </a:path>
                </a:pathLst>
              </a:custGeom>
              <a:solidFill>
                <a:srgbClr val="FDF8F5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1377345" cy="386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5359446" y="2433675"/>
              <a:ext cx="5589900" cy="1349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68B67"/>
                  </a:solidFill>
                  <a:latin typeface="Poppins"/>
                  <a:ea typeface="Poppins"/>
                  <a:cs typeface="Poppins"/>
                  <a:sym typeface="Poppins"/>
                </a:rPr>
                <a:t>Substances &amp; Precursors 💊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0" y="4527685"/>
              <a:ext cx="6972809" cy="1765451"/>
              <a:chOff x="0" y="0"/>
              <a:chExt cx="1377345" cy="34873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377345" cy="348731"/>
              </a:xfrm>
              <a:custGeom>
                <a:avLst/>
                <a:gdLst/>
                <a:ahLst/>
                <a:cxnLst/>
                <a:rect l="l" t="t" r="r" b="b"/>
                <a:pathLst>
                  <a:path w="1377345" h="348731">
                    <a:moveTo>
                      <a:pt x="99187" y="0"/>
                    </a:moveTo>
                    <a:lnTo>
                      <a:pt x="1278158" y="0"/>
                    </a:lnTo>
                    <a:cubicBezTo>
                      <a:pt x="1304464" y="0"/>
                      <a:pt x="1329693" y="10450"/>
                      <a:pt x="1348294" y="29051"/>
                    </a:cubicBezTo>
                    <a:cubicBezTo>
                      <a:pt x="1366895" y="47652"/>
                      <a:pt x="1377345" y="72881"/>
                      <a:pt x="1377345" y="99187"/>
                    </a:cubicBezTo>
                    <a:lnTo>
                      <a:pt x="1377345" y="249544"/>
                    </a:lnTo>
                    <a:cubicBezTo>
                      <a:pt x="1377345" y="275850"/>
                      <a:pt x="1366895" y="301079"/>
                      <a:pt x="1348294" y="319680"/>
                    </a:cubicBezTo>
                    <a:cubicBezTo>
                      <a:pt x="1329693" y="338281"/>
                      <a:pt x="1304464" y="348731"/>
                      <a:pt x="1278158" y="348731"/>
                    </a:cubicBezTo>
                    <a:lnTo>
                      <a:pt x="99187" y="348731"/>
                    </a:lnTo>
                    <a:cubicBezTo>
                      <a:pt x="72881" y="348731"/>
                      <a:pt x="47652" y="338281"/>
                      <a:pt x="29051" y="319680"/>
                    </a:cubicBezTo>
                    <a:cubicBezTo>
                      <a:pt x="10450" y="301079"/>
                      <a:pt x="0" y="275850"/>
                      <a:pt x="0" y="249544"/>
                    </a:cubicBezTo>
                    <a:lnTo>
                      <a:pt x="0" y="99187"/>
                    </a:lnTo>
                    <a:cubicBezTo>
                      <a:pt x="0" y="72881"/>
                      <a:pt x="10450" y="47652"/>
                      <a:pt x="29051" y="29051"/>
                    </a:cubicBezTo>
                    <a:cubicBezTo>
                      <a:pt x="47652" y="10450"/>
                      <a:pt x="72881" y="0"/>
                      <a:pt x="99187" y="0"/>
                    </a:cubicBezTo>
                    <a:close/>
                  </a:path>
                </a:pathLst>
              </a:custGeom>
              <a:solidFill>
                <a:srgbClr val="FDF8F5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377345" cy="386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1688383" y="4708524"/>
              <a:ext cx="3733955" cy="1349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68B67"/>
                  </a:solidFill>
                  <a:latin typeface="Poppins"/>
                  <a:ea typeface="Poppins"/>
                  <a:cs typeface="Poppins"/>
                  <a:sym typeface="Poppins"/>
                </a:rPr>
                <a:t>Operational Context 🏗️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7333996" y="4527685"/>
              <a:ext cx="6972809" cy="1765451"/>
              <a:chOff x="0" y="0"/>
              <a:chExt cx="1377345" cy="34873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377345" cy="348731"/>
              </a:xfrm>
              <a:custGeom>
                <a:avLst/>
                <a:gdLst/>
                <a:ahLst/>
                <a:cxnLst/>
                <a:rect l="l" t="t" r="r" b="b"/>
                <a:pathLst>
                  <a:path w="1377345" h="348731">
                    <a:moveTo>
                      <a:pt x="99187" y="0"/>
                    </a:moveTo>
                    <a:lnTo>
                      <a:pt x="1278158" y="0"/>
                    </a:lnTo>
                    <a:cubicBezTo>
                      <a:pt x="1304464" y="0"/>
                      <a:pt x="1329693" y="10450"/>
                      <a:pt x="1348294" y="29051"/>
                    </a:cubicBezTo>
                    <a:cubicBezTo>
                      <a:pt x="1366895" y="47652"/>
                      <a:pt x="1377345" y="72881"/>
                      <a:pt x="1377345" y="99187"/>
                    </a:cubicBezTo>
                    <a:lnTo>
                      <a:pt x="1377345" y="249544"/>
                    </a:lnTo>
                    <a:cubicBezTo>
                      <a:pt x="1377345" y="275850"/>
                      <a:pt x="1366895" y="301079"/>
                      <a:pt x="1348294" y="319680"/>
                    </a:cubicBezTo>
                    <a:cubicBezTo>
                      <a:pt x="1329693" y="338281"/>
                      <a:pt x="1304464" y="348731"/>
                      <a:pt x="1278158" y="348731"/>
                    </a:cubicBezTo>
                    <a:lnTo>
                      <a:pt x="99187" y="348731"/>
                    </a:lnTo>
                    <a:cubicBezTo>
                      <a:pt x="72881" y="348731"/>
                      <a:pt x="47652" y="338281"/>
                      <a:pt x="29051" y="319680"/>
                    </a:cubicBezTo>
                    <a:cubicBezTo>
                      <a:pt x="10450" y="301079"/>
                      <a:pt x="0" y="275850"/>
                      <a:pt x="0" y="249544"/>
                    </a:cubicBezTo>
                    <a:lnTo>
                      <a:pt x="0" y="99187"/>
                    </a:lnTo>
                    <a:cubicBezTo>
                      <a:pt x="0" y="72881"/>
                      <a:pt x="10450" y="47652"/>
                      <a:pt x="29051" y="29051"/>
                    </a:cubicBezTo>
                    <a:cubicBezTo>
                      <a:pt x="47652" y="10450"/>
                      <a:pt x="72881" y="0"/>
                      <a:pt x="99187" y="0"/>
                    </a:cubicBezTo>
                    <a:close/>
                  </a:path>
                </a:pathLst>
              </a:custGeom>
              <a:solidFill>
                <a:srgbClr val="FDF8F5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377345" cy="386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8724188" y="4708524"/>
              <a:ext cx="4192425" cy="1349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68B67"/>
                  </a:solidFill>
                  <a:latin typeface="Poppins"/>
                  <a:ea typeface="Poppins"/>
                  <a:cs typeface="Poppins"/>
                  <a:sym typeface="Poppins"/>
                </a:rPr>
                <a:t>Data &amp; Evidence Handling 📁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4667991" y="4527685"/>
              <a:ext cx="6972809" cy="1765451"/>
              <a:chOff x="0" y="0"/>
              <a:chExt cx="1377345" cy="34873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377345" cy="348731"/>
              </a:xfrm>
              <a:custGeom>
                <a:avLst/>
                <a:gdLst/>
                <a:ahLst/>
                <a:cxnLst/>
                <a:rect l="l" t="t" r="r" b="b"/>
                <a:pathLst>
                  <a:path w="1377345" h="348731">
                    <a:moveTo>
                      <a:pt x="99187" y="0"/>
                    </a:moveTo>
                    <a:lnTo>
                      <a:pt x="1278158" y="0"/>
                    </a:lnTo>
                    <a:cubicBezTo>
                      <a:pt x="1304464" y="0"/>
                      <a:pt x="1329693" y="10450"/>
                      <a:pt x="1348294" y="29051"/>
                    </a:cubicBezTo>
                    <a:cubicBezTo>
                      <a:pt x="1366895" y="47652"/>
                      <a:pt x="1377345" y="72881"/>
                      <a:pt x="1377345" y="99187"/>
                    </a:cubicBezTo>
                    <a:lnTo>
                      <a:pt x="1377345" y="249544"/>
                    </a:lnTo>
                    <a:cubicBezTo>
                      <a:pt x="1377345" y="275850"/>
                      <a:pt x="1366895" y="301079"/>
                      <a:pt x="1348294" y="319680"/>
                    </a:cubicBezTo>
                    <a:cubicBezTo>
                      <a:pt x="1329693" y="338281"/>
                      <a:pt x="1304464" y="348731"/>
                      <a:pt x="1278158" y="348731"/>
                    </a:cubicBezTo>
                    <a:lnTo>
                      <a:pt x="99187" y="348731"/>
                    </a:lnTo>
                    <a:cubicBezTo>
                      <a:pt x="72881" y="348731"/>
                      <a:pt x="47652" y="338281"/>
                      <a:pt x="29051" y="319680"/>
                    </a:cubicBezTo>
                    <a:cubicBezTo>
                      <a:pt x="10450" y="301079"/>
                      <a:pt x="0" y="275850"/>
                      <a:pt x="0" y="249544"/>
                    </a:cubicBezTo>
                    <a:lnTo>
                      <a:pt x="0" y="99187"/>
                    </a:lnTo>
                    <a:cubicBezTo>
                      <a:pt x="0" y="72881"/>
                      <a:pt x="10450" y="47652"/>
                      <a:pt x="29051" y="29051"/>
                    </a:cubicBezTo>
                    <a:cubicBezTo>
                      <a:pt x="47652" y="10450"/>
                      <a:pt x="72881" y="0"/>
                      <a:pt x="99187" y="0"/>
                    </a:cubicBezTo>
                    <a:close/>
                  </a:path>
                </a:pathLst>
              </a:custGeom>
              <a:solidFill>
                <a:srgbClr val="FDF8F5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1377345" cy="386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5979174" y="4708524"/>
              <a:ext cx="4350444" cy="1349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068B67"/>
                  </a:solidFill>
                  <a:latin typeface="Poppins"/>
                  <a:ea typeface="Poppins"/>
                  <a:cs typeface="Poppins"/>
                  <a:sym typeface="Poppins"/>
                </a:rPr>
                <a:t>User Interaction &amp; Feedback 🧠</a:t>
              </a:r>
            </a:p>
          </p:txBody>
        </p:sp>
      </p:grpSp>
      <p:sp>
        <p:nvSpPr>
          <p:cNvPr id="48" name="Freeform 48"/>
          <p:cNvSpPr/>
          <p:nvPr/>
        </p:nvSpPr>
        <p:spPr>
          <a:xfrm rot="538208">
            <a:off x="546198" y="8852726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9" name="TextBox 49"/>
          <p:cNvSpPr txBox="1"/>
          <p:nvPr/>
        </p:nvSpPr>
        <p:spPr>
          <a:xfrm>
            <a:off x="4347757" y="8404423"/>
            <a:ext cx="9592485" cy="103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We will explore these topics together through open discussion with LEA participants.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782800">
            <a:off x="-761030" y="-1521417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0" name="Group 10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291834" y="1717817"/>
            <a:ext cx="1189781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068B67"/>
                </a:solidFill>
                <a:latin typeface="Lazydog"/>
                <a:ea typeface="Lazydog"/>
                <a:cs typeface="Lazydog"/>
                <a:sym typeface="Lazydog"/>
              </a:rPr>
              <a:t>OPERATIONAL CHALLENGES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76500" y="4185238"/>
            <a:ext cx="13335000" cy="287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sz="6006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What are your biggest operational challenges in detecting synthetic drugs and labs?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8B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3399" y="1717358"/>
            <a:ext cx="988120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FDF8F5"/>
                </a:solidFill>
                <a:latin typeface="Lazydog"/>
                <a:ea typeface="Lazydog"/>
                <a:cs typeface="Lazydog"/>
                <a:sym typeface="Lazydog"/>
              </a:rPr>
              <a:t>Portability</a:t>
            </a:r>
          </a:p>
        </p:txBody>
      </p:sp>
      <p:sp>
        <p:nvSpPr>
          <p:cNvPr id="3" name="Freeform 3"/>
          <p:cNvSpPr/>
          <p:nvPr/>
        </p:nvSpPr>
        <p:spPr>
          <a:xfrm rot="4782800">
            <a:off x="-236436" y="-1154978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1" name="Group 11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476500" y="4109085"/>
            <a:ext cx="13335000" cy="297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8"/>
              </a:lnSpc>
            </a:pPr>
            <a:r>
              <a:rPr lang="en-US" sz="554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How important is portability for detection systems (vehicle-mounted, handheld, or fixed setups)?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782800">
            <a:off x="-761030" y="-1521417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0" name="Group 10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291834" y="1717817"/>
            <a:ext cx="1189781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068B67"/>
                </a:solidFill>
                <a:latin typeface="Lazydog"/>
                <a:ea typeface="Lazydog"/>
                <a:cs typeface="Lazydog"/>
                <a:sym typeface="Lazydog"/>
              </a:rPr>
              <a:t>Detection Accuracy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83816" y="4175713"/>
            <a:ext cx="13320369" cy="288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0"/>
              </a:lnSpc>
            </a:pPr>
            <a:r>
              <a:rPr lang="en-US" sz="6000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What level of detection accuracy or false-alarm rate is acceptable under real-world conditions?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8B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3399" y="1717358"/>
            <a:ext cx="988120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FDF8F5"/>
                </a:solidFill>
                <a:latin typeface="Lazydog"/>
                <a:ea typeface="Lazydog"/>
                <a:cs typeface="Lazydog"/>
                <a:sym typeface="Lazydog"/>
              </a:rPr>
              <a:t>AI Assistance</a:t>
            </a:r>
          </a:p>
        </p:txBody>
      </p:sp>
      <p:sp>
        <p:nvSpPr>
          <p:cNvPr id="3" name="Freeform 3"/>
          <p:cNvSpPr/>
          <p:nvPr/>
        </p:nvSpPr>
        <p:spPr>
          <a:xfrm rot="4782800">
            <a:off x="-236436" y="-1154978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1" name="Group 11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476500" y="4109085"/>
            <a:ext cx="13335000" cy="297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8"/>
              </a:lnSpc>
            </a:pPr>
            <a:r>
              <a:rPr lang="en-US" sz="554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Would automatic, AI-assisted results improve trust compared to manual interpretation?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782800">
            <a:off x="-761030" y="-1521417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0" name="Group 10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291834" y="1717817"/>
            <a:ext cx="1189781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068B67"/>
                </a:solidFill>
                <a:latin typeface="Lazydog"/>
                <a:ea typeface="Lazydog"/>
                <a:cs typeface="Lazydog"/>
                <a:sym typeface="Lazydog"/>
              </a:rPr>
              <a:t>Explainability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83816" y="4175713"/>
            <a:ext cx="13320369" cy="288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0"/>
              </a:lnSpc>
            </a:pPr>
            <a:r>
              <a:rPr lang="en-US" sz="6000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How important is explainability of AI-based results for legal and operational use?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8B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3399" y="1085850"/>
            <a:ext cx="9881202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FDF8F5"/>
                </a:solidFill>
                <a:latin typeface="Lazydog"/>
                <a:ea typeface="Lazydog"/>
                <a:cs typeface="Lazydog"/>
                <a:sym typeface="Lazydog"/>
              </a:rPr>
              <a:t>Substances &amp; Precursors</a:t>
            </a:r>
          </a:p>
        </p:txBody>
      </p:sp>
      <p:sp>
        <p:nvSpPr>
          <p:cNvPr id="3" name="Freeform 3"/>
          <p:cNvSpPr/>
          <p:nvPr/>
        </p:nvSpPr>
        <p:spPr>
          <a:xfrm rot="4782800">
            <a:off x="-236436" y="-1154978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1" name="Group 11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476500" y="4109085"/>
            <a:ext cx="13335000" cy="297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8"/>
              </a:lnSpc>
            </a:pPr>
            <a:r>
              <a:rPr lang="en-US" sz="554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Which substances, precursors, or mixtures are easier or harder to detect in practice?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782800">
            <a:off x="-761030" y="-1521417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0" name="Group 10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291834" y="1717817"/>
            <a:ext cx="1189781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068B67"/>
                </a:solidFill>
                <a:latin typeface="Lazydog"/>
                <a:ea typeface="Lazydog"/>
                <a:cs typeface="Lazydog"/>
                <a:sym typeface="Lazydog"/>
              </a:rPr>
              <a:t>Operational Context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76500" y="4185238"/>
            <a:ext cx="13335000" cy="287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sz="6006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In which environments do you most often perform substance detection?</a:t>
            </a: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8B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3399" y="1085850"/>
            <a:ext cx="9881202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FDF8F5"/>
                </a:solidFill>
                <a:latin typeface="Lazydog"/>
                <a:ea typeface="Lazydog"/>
                <a:cs typeface="Lazydog"/>
                <a:sym typeface="Lazydog"/>
              </a:rPr>
              <a:t>Data &amp; Evidence Handling</a:t>
            </a:r>
          </a:p>
        </p:txBody>
      </p:sp>
      <p:sp>
        <p:nvSpPr>
          <p:cNvPr id="3" name="Freeform 3"/>
          <p:cNvSpPr/>
          <p:nvPr/>
        </p:nvSpPr>
        <p:spPr>
          <a:xfrm rot="4782800">
            <a:off x="-236436" y="-1154978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1" name="Group 11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476500" y="4109085"/>
            <a:ext cx="13335000" cy="297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8"/>
              </a:lnSpc>
            </a:pPr>
            <a:r>
              <a:rPr lang="en-US" sz="5549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How are detection results currently recorded, verified, and shared across agencies?</a:t>
            </a: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782800">
            <a:off x="-761030" y="-1521417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372811" y="4469164"/>
            <a:ext cx="799459" cy="79945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431794">
            <a:off x="13294041" y="7856903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0" name="Group 10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646240" y="1085850"/>
            <a:ext cx="8995521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068B67"/>
                </a:solidFill>
                <a:latin typeface="Lazydog"/>
                <a:ea typeface="Lazydog"/>
                <a:cs typeface="Lazydog"/>
                <a:sym typeface="Lazydog"/>
              </a:rPr>
              <a:t>User Interaction &amp; Feedback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76500" y="4185238"/>
            <a:ext cx="13335000" cy="287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sz="6006">
                <a:solidFill>
                  <a:srgbClr val="068B67"/>
                </a:solidFill>
                <a:latin typeface="Poppins"/>
                <a:ea typeface="Poppins"/>
                <a:cs typeface="Poppins"/>
                <a:sym typeface="Poppins"/>
              </a:rPr>
              <a:t>What kind of user interface or feedback would be most useful during detection?</a:t>
            </a: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8B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3399" y="555518"/>
            <a:ext cx="9881202" cy="2708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44"/>
              </a:lnSpc>
            </a:pPr>
            <a:r>
              <a:rPr lang="en-US" sz="9499">
                <a:solidFill>
                  <a:srgbClr val="FDF8F5"/>
                </a:solidFill>
                <a:latin typeface="Lazydog"/>
                <a:ea typeface="Lazydog"/>
                <a:cs typeface="Lazydog"/>
                <a:sym typeface="Lazydog"/>
              </a:rPr>
              <a:t>Next Steps &amp; Reflections</a:t>
            </a:r>
          </a:p>
        </p:txBody>
      </p:sp>
      <p:sp>
        <p:nvSpPr>
          <p:cNvPr id="3" name="Freeform 3"/>
          <p:cNvSpPr/>
          <p:nvPr/>
        </p:nvSpPr>
        <p:spPr>
          <a:xfrm rot="4782800">
            <a:off x="-580052" y="-1485195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1" y="0"/>
                </a:lnTo>
                <a:lnTo>
                  <a:pt x="5067141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028700" y="5012380"/>
            <a:ext cx="799459" cy="79945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84860" y="2803667"/>
            <a:ext cx="1487681" cy="148768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431794">
            <a:off x="13294041" y="9017822"/>
            <a:ext cx="5067141" cy="3749684"/>
          </a:xfrm>
          <a:custGeom>
            <a:avLst/>
            <a:gdLst/>
            <a:ahLst/>
            <a:cxnLst/>
            <a:rect l="l" t="t" r="r" b="b"/>
            <a:pathLst>
              <a:path w="5067141" h="3749684">
                <a:moveTo>
                  <a:pt x="0" y="0"/>
                </a:moveTo>
                <a:lnTo>
                  <a:pt x="5067140" y="0"/>
                </a:lnTo>
                <a:lnTo>
                  <a:pt x="5067140" y="3749684"/>
                </a:lnTo>
                <a:lnTo>
                  <a:pt x="0" y="3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1" name="Group 11"/>
          <p:cNvGrpSpPr/>
          <p:nvPr/>
        </p:nvGrpSpPr>
        <p:grpSpPr>
          <a:xfrm>
            <a:off x="15827611" y="5660661"/>
            <a:ext cx="1487681" cy="148768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859571" y="3432894"/>
            <a:ext cx="799459" cy="79945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ADD1C5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00000">
            <a:off x="9096863" y="661024"/>
            <a:ext cx="94274" cy="5206807"/>
            <a:chOff x="0" y="0"/>
            <a:chExt cx="24829" cy="13713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829" cy="1371340"/>
            </a:xfrm>
            <a:custGeom>
              <a:avLst/>
              <a:gdLst/>
              <a:ahLst/>
              <a:cxnLst/>
              <a:rect l="l" t="t" r="r" b="b"/>
              <a:pathLst>
                <a:path w="24829" h="1371340">
                  <a:moveTo>
                    <a:pt x="12415" y="0"/>
                  </a:moveTo>
                  <a:lnTo>
                    <a:pt x="12415" y="0"/>
                  </a:lnTo>
                  <a:cubicBezTo>
                    <a:pt x="15707" y="0"/>
                    <a:pt x="18865" y="1308"/>
                    <a:pt x="21193" y="3636"/>
                  </a:cubicBezTo>
                  <a:cubicBezTo>
                    <a:pt x="23521" y="5964"/>
                    <a:pt x="24829" y="9122"/>
                    <a:pt x="24829" y="12415"/>
                  </a:cubicBezTo>
                  <a:lnTo>
                    <a:pt x="24829" y="1358925"/>
                  </a:lnTo>
                  <a:cubicBezTo>
                    <a:pt x="24829" y="1362218"/>
                    <a:pt x="23521" y="1365376"/>
                    <a:pt x="21193" y="1367704"/>
                  </a:cubicBezTo>
                  <a:cubicBezTo>
                    <a:pt x="18865" y="1370032"/>
                    <a:pt x="15707" y="1371340"/>
                    <a:pt x="12415" y="1371340"/>
                  </a:cubicBezTo>
                  <a:lnTo>
                    <a:pt x="12415" y="1371340"/>
                  </a:lnTo>
                  <a:cubicBezTo>
                    <a:pt x="9122" y="1371340"/>
                    <a:pt x="5964" y="1370032"/>
                    <a:pt x="3636" y="1367704"/>
                  </a:cubicBezTo>
                  <a:cubicBezTo>
                    <a:pt x="1308" y="1365376"/>
                    <a:pt x="0" y="1362218"/>
                    <a:pt x="0" y="1358925"/>
                  </a:cubicBezTo>
                  <a:lnTo>
                    <a:pt x="0" y="12415"/>
                  </a:lnTo>
                  <a:cubicBezTo>
                    <a:pt x="0" y="9122"/>
                    <a:pt x="1308" y="5964"/>
                    <a:pt x="3636" y="3636"/>
                  </a:cubicBezTo>
                  <a:cubicBezTo>
                    <a:pt x="5964" y="1308"/>
                    <a:pt x="9122" y="0"/>
                    <a:pt x="12415" y="0"/>
                  </a:cubicBezTo>
                  <a:close/>
                </a:path>
              </a:pathLst>
            </a:custGeom>
            <a:solidFill>
              <a:srgbClr val="FDF8F5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829" cy="1409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953519" y="4137102"/>
            <a:ext cx="14380963" cy="322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The insights collected during this workshop will support the definition of operational and technical requirements for future detection systems.</a:t>
            </a:r>
          </a:p>
          <a:p>
            <a:pPr algn="ctr">
              <a:lnSpc>
                <a:spcPts val="1959"/>
              </a:lnSpc>
            </a:pPr>
            <a:endParaRPr lang="en-US" sz="3100">
              <a:solidFill>
                <a:srgbClr val="FDF8F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These inputs will help ensure that upcoming solutions are aligned with real-world needs, operational constraints, and legal frameworks.</a:t>
            </a:r>
          </a:p>
          <a:p>
            <a:pPr algn="ctr">
              <a:lnSpc>
                <a:spcPts val="1959"/>
              </a:lnSpc>
            </a:pPr>
            <a:endParaRPr lang="en-US" sz="3100">
              <a:solidFill>
                <a:srgbClr val="FDF8F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DF8F5"/>
                </a:solidFill>
                <a:latin typeface="Poppins"/>
                <a:ea typeface="Poppins"/>
                <a:cs typeface="Poppins"/>
                <a:sym typeface="Poppins"/>
              </a:rPr>
              <a:t>Thank you for your participation and valuable input!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953519" y="8000826"/>
            <a:ext cx="14380963" cy="1428750"/>
            <a:chOff x="0" y="0"/>
            <a:chExt cx="19174617" cy="1905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3029456" y="0"/>
              <a:ext cx="6145161" cy="1905000"/>
            </a:xfrm>
            <a:custGeom>
              <a:avLst/>
              <a:gdLst/>
              <a:ahLst/>
              <a:cxnLst/>
              <a:rect l="l" t="t" r="r" b="b"/>
              <a:pathLst>
                <a:path w="6145161" h="1905000">
                  <a:moveTo>
                    <a:pt x="0" y="0"/>
                  </a:moveTo>
                  <a:lnTo>
                    <a:pt x="6145161" y="0"/>
                  </a:lnTo>
                  <a:lnTo>
                    <a:pt x="6145161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3121799" y="0"/>
              <a:ext cx="8690858" cy="1905000"/>
            </a:xfrm>
            <a:custGeom>
              <a:avLst/>
              <a:gdLst/>
              <a:ahLst/>
              <a:cxnLst/>
              <a:rect l="l" t="t" r="r" b="b"/>
              <a:pathLst>
                <a:path w="8690858" h="1905000">
                  <a:moveTo>
                    <a:pt x="0" y="0"/>
                  </a:moveTo>
                  <a:lnTo>
                    <a:pt x="8690858" y="0"/>
                  </a:lnTo>
                  <a:lnTo>
                    <a:pt x="8690858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553</Words>
  <Application>Microsoft Office PowerPoint</Application>
  <PresentationFormat>Personalizzato</PresentationFormat>
  <Paragraphs>65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1" baseType="lpstr">
      <vt:lpstr>Calibri</vt:lpstr>
      <vt:lpstr>Poppins</vt:lpstr>
      <vt:lpstr>Arial</vt:lpstr>
      <vt:lpstr>Poppins Bold</vt:lpstr>
      <vt:lpstr>Lazydog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Elicitation Workshop</dc:title>
  <cp:lastModifiedBy>MARCO DI MAIO</cp:lastModifiedBy>
  <cp:revision>2</cp:revision>
  <dcterms:created xsi:type="dcterms:W3CDTF">2006-08-16T00:00:00Z</dcterms:created>
  <dcterms:modified xsi:type="dcterms:W3CDTF">2025-11-01T23:10:06Z</dcterms:modified>
  <dc:identifier>DAG3fU5T_-A</dc:identifier>
</cp:coreProperties>
</file>